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A500"/>
    <a:srgbClr val="0F2244"/>
    <a:srgbClr val="1B3A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22" autoAdjust="0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2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6328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22A52"/>
          </a:solidFill>
          <a:ln w="12700">
            <a:solidFill>
              <a:srgbClr val="122A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3456432"/>
            <a:ext cx="882396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58729" y="342196"/>
            <a:ext cx="2926080" cy="34747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58729" y="342196"/>
            <a:ext cx="29260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 · OOPs Project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86868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Library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411480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9748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8C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Java-based library platform applying OOP principles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A8C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manage books, members, and borrowing policies.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Users: Library Administrators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9319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ADRIJA DUTTA · Roll: 73 · CSE(IOTCSBT)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Object-Oriented Programming(OOP)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F"/>
          </a:solidFill>
          <a:ln w="12700">
            <a:solidFill>
              <a:srgbClr val="F5F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9034272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01168" cy="56692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822960"/>
            <a:ext cx="4206240" cy="566928"/>
          </a:xfrm>
          <a:prstGeom prst="rect">
            <a:avLst/>
          </a:prstGeom>
          <a:solidFill>
            <a:srgbClr val="EDF2F7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8595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" y="109728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· LibraryUser · StudentMember · FacultyMember · Transaction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673352"/>
            <a:ext cx="201168" cy="56692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1673352"/>
            <a:ext cx="4206240" cy="566928"/>
          </a:xfrm>
          <a:prstGeom prst="rect">
            <a:avLst/>
          </a:prstGeom>
          <a:solidFill>
            <a:srgbClr val="EDF2F7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7099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" y="1947672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LibraryService — orchestrates issue, return, reserve, persist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523744"/>
            <a:ext cx="201168" cy="566928"/>
          </a:xfrm>
          <a:prstGeom prst="rect">
            <a:avLst/>
          </a:prstGeom>
          <a:solidFill>
            <a:srgbClr val="C05A00"/>
          </a:solidFill>
          <a:ln w="12700">
            <a:solidFill>
              <a:srgbClr val="C05A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2523744"/>
            <a:ext cx="4206240" cy="566928"/>
          </a:xfrm>
          <a:prstGeom prst="rect">
            <a:avLst/>
          </a:prstGeom>
          <a:solidFill>
            <a:srgbClr val="EDF2F7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25603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" y="2798064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LibraryException → BookNotAvailable · BorrowLimitExceeded · InvalidReturn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3374136"/>
            <a:ext cx="201168" cy="566928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3374136"/>
            <a:ext cx="4206240" cy="566928"/>
          </a:xfrm>
          <a:prstGeom prst="rect">
            <a:avLst/>
          </a:prstGeom>
          <a:solidFill>
            <a:srgbClr val="EDF2F7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34107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" y="3648456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StorageUtil — serialise/deserialise full object graph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937760" y="777240"/>
            <a:ext cx="3977640" cy="3429000"/>
          </a:xfrm>
          <a:prstGeom prst="rect">
            <a:avLst/>
          </a:prstGeom>
          <a:solidFill>
            <a:srgbClr val="EDF2F7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8229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Classes &amp; Responsibilities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0" y="1188720"/>
            <a:ext cx="73152" cy="3840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118872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LibraryUser (abstract)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166360" y="138074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member contract: getMaxBooks(), calculateFine()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29200" y="1755648"/>
            <a:ext cx="73152" cy="3840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175564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StudentMember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166360" y="194767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3 books · 14 days · $1/day fine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29200" y="2322576"/>
            <a:ext cx="73152" cy="3840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232257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FacultyMember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166360" y="251460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10 books · 30 days · $0.50/day fine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029200" y="2889504"/>
            <a:ext cx="73152" cy="3840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288950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LibraryService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166360" y="308152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&amp; executes all transactions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029200" y="3456432"/>
            <a:ext cx="73152" cy="3840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345643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StorageUtil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166360" y="364845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data via Java serialisation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28600" y="40599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28600" y="4315968"/>
            <a:ext cx="1979676" cy="65836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28600" y="4407408"/>
            <a:ext cx="1979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Main.java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28600" y="4681728"/>
            <a:ext cx="19796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/ Entry Point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226564" y="4622292"/>
            <a:ext cx="128016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354580" y="4567428"/>
            <a:ext cx="91440" cy="1554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391156" y="4594860"/>
            <a:ext cx="64008" cy="10058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427732" y="4622292"/>
            <a:ext cx="36576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464308" y="4315968"/>
            <a:ext cx="1979676" cy="65836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2464308" y="4407408"/>
            <a:ext cx="1979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LibraryService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464308" y="4681728"/>
            <a:ext cx="19796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462272" y="4622292"/>
            <a:ext cx="128016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90288" y="4567428"/>
            <a:ext cx="91440" cy="1554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26864" y="4594860"/>
            <a:ext cx="64008" cy="10058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63440" y="4622292"/>
            <a:ext cx="36576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00016" y="4315968"/>
            <a:ext cx="1979676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700016" y="4407408"/>
            <a:ext cx="1979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700016" y="4681728"/>
            <a:ext cx="19796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&amp; Data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697980" y="4622292"/>
            <a:ext cx="128016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825996" y="4567428"/>
            <a:ext cx="91440" cy="1554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862572" y="4594860"/>
            <a:ext cx="64008" cy="10058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899148" y="4622292"/>
            <a:ext cx="36576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935724" y="4315968"/>
            <a:ext cx="1979676" cy="658368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6935724" y="4407408"/>
            <a:ext cx="1979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StorageUtil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935724" y="4681728"/>
            <a:ext cx="19796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F"/>
          </a:solidFill>
          <a:ln w="12700">
            <a:solidFill>
              <a:srgbClr val="F5F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9034272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 Used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804672"/>
            <a:ext cx="42976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804672"/>
            <a:ext cx="256032" cy="181051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89611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243584"/>
            <a:ext cx="1330452" cy="2560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243584"/>
            <a:ext cx="13304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LibraryUser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563624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 defines getMaxBooks(), getBorrowDuration(), calculateFine() — service calls these without knowing the concrete type.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907792"/>
            <a:ext cx="42976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907792"/>
            <a:ext cx="256032" cy="1664208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9923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346704"/>
            <a:ext cx="1828800" cy="256032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46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StudentMember, FacultyMember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666744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extend LibraryUser, inheriting shared state and overriding three abstract policy methods with type-specific constants.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804672"/>
            <a:ext cx="429768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804672"/>
            <a:ext cx="256032" cy="1810512"/>
          </a:xfrm>
          <a:prstGeom prst="rect">
            <a:avLst/>
          </a:prstGeom>
          <a:solidFill>
            <a:srgbClr val="C05A00"/>
          </a:solidFill>
          <a:ln w="12700">
            <a:solidFill>
              <a:srgbClr val="C05A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89611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0" y="1243584"/>
            <a:ext cx="1618488" cy="256032"/>
          </a:xfrm>
          <a:prstGeom prst="rect">
            <a:avLst/>
          </a:prstGeom>
          <a:solidFill>
            <a:srgbClr val="C05A00"/>
          </a:solidFill>
          <a:ln w="12700">
            <a:solidFill>
              <a:srgbClr val="C05A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1243584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LibraryService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1563624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member.calculateFine(daysLate) dispatches to the correct subclass at runtime. No instanceof checks needed.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907792"/>
            <a:ext cx="42976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907792"/>
            <a:ext cx="256032" cy="1664208"/>
          </a:xfrm>
          <a:prstGeom prst="rect">
            <a:avLst/>
          </a:prstGeom>
          <a:solidFill>
            <a:srgbClr val="6B2E7D"/>
          </a:solidFill>
          <a:ln w="12700">
            <a:solidFill>
              <a:srgbClr val="6B2E7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99923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2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0" y="3346704"/>
            <a:ext cx="1828800" cy="256032"/>
          </a:xfrm>
          <a:prstGeom prst="rect">
            <a:avLst/>
          </a:prstGeom>
          <a:solidFill>
            <a:srgbClr val="6B2E7D"/>
          </a:solidFill>
          <a:ln w="12700">
            <a:solidFill>
              <a:srgbClr val="6B2E7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3346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Book, Transaction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3666744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 private; state mutates only through controlled setAvailable() and borrowBook() calls inside service methods.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" y="4754880"/>
            <a:ext cx="8778240" cy="27432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718304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Pattern: Template Method — LibraryUser defines the skeleton; subclasses fill in the policy details.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8FF"/>
          </a:solidFill>
          <a:ln w="12700">
            <a:solidFill>
              <a:srgbClr val="F5F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9034272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Highlight — Polymorphic Fine Calculation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64008" cy="3200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430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LibraryService.returnBook() uses a single line to calculate fines across all member types: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1691640"/>
            <a:ext cx="411480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7647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returnBook — fine calculation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19933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</a:t>
            </a:r>
            <a:r>
              <a:rPr lang="en-US" sz="950" dirty="0" err="1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daysBorrowed</a:t>
            </a:r>
            <a:r>
              <a:rPr lang="en-US" sz="9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ChronoUnit.DAYS.between(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22219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openTx.getIssueDate(), LocalDate.now());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" y="24505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26791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daysLate = (int) </a:t>
            </a:r>
            <a:r>
              <a:rPr lang="en-US" sz="950" dirty="0" err="1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daysBorrowed</a:t>
            </a:r>
            <a:r>
              <a:rPr lang="en-US" sz="9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" y="29077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member.getBorrowDurationDays();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" y="31363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" y="33649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</a:t>
            </a:r>
            <a:r>
              <a:rPr lang="en-US" sz="950" dirty="0" err="1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fineAmount</a:t>
            </a:r>
            <a:r>
              <a:rPr lang="en-US" sz="95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member.calculateFine(daysLate);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" y="35935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Student: 14-day window, $1.00/day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0040" y="38221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Faculty: 30-day window, $0.50/day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63440" y="777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777240"/>
            <a:ext cx="64008" cy="3200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118872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1188720"/>
            <a:ext cx="4114800" cy="3474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2344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StudentMember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1609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window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16093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1938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rate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0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$1.00 / day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2267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overdue fine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0" y="2267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$5.00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283464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2834640"/>
            <a:ext cx="4114800" cy="347472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8803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FacultyMember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754880" y="32552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window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0" y="32552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54880" y="3584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rate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58000" y="35844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$0.50 / day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54880" y="3913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overdue fine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58000" y="39136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28600" y="4434840"/>
            <a:ext cx="8778240" cy="548640"/>
          </a:xfrm>
          <a:prstGeom prst="rect">
            <a:avLst/>
          </a:prstGeom>
          <a:solidFill>
            <a:srgbClr val="D6E4F7"/>
          </a:solidFill>
          <a:ln w="12700">
            <a:solidFill>
              <a:srgbClr val="B8CF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4805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service never checks if(student) or if(faculty). Polymorphism delegates the decision to the object itself — cleaner, extensible code.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9034272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9728" y="0"/>
            <a:ext cx="9034272" cy="685800"/>
          </a:xfrm>
          <a:prstGeom prst="rect">
            <a:avLst/>
          </a:prstGeom>
          <a:solidFill>
            <a:srgbClr val="0F2244"/>
          </a:solidFill>
          <a:ln w="12700">
            <a:solidFill>
              <a:srgbClr val="0F22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28600" y="777240"/>
            <a:ext cx="2834640" cy="420624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D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777240"/>
            <a:ext cx="2834640" cy="50292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80467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822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3192" y="1453896"/>
            <a:ext cx="164592" cy="164592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13898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system → dummy data loads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93192" y="2057400"/>
            <a:ext cx="164592" cy="164592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" y="19933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 → list all books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93192" y="2660904"/>
            <a:ext cx="164592" cy="164592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" y="259689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 → issue B001 to S001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93192" y="3264408"/>
            <a:ext cx="164592" cy="164592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" y="32004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book marked unavailable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93192" y="3867912"/>
            <a:ext cx="164592" cy="164592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" y="380390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 → borrow count shows 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777240"/>
            <a:ext cx="2834640" cy="420624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D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777240"/>
            <a:ext cx="2834640" cy="50292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80467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703320" y="822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Scenario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364992" y="1453896"/>
            <a:ext cx="164592" cy="164592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13898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book with backdated date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64992" y="2057400"/>
            <a:ext cx="164592" cy="164592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19933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book after 5+ days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64992" y="2660904"/>
            <a:ext cx="164592" cy="164592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02736" y="259689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= 5 × $1.00 = $5.00 (Student)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364992" y="3264408"/>
            <a:ext cx="164592" cy="164592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2004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fine printed to console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64992" y="3867912"/>
            <a:ext cx="164592" cy="164592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02736" y="380390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availability restored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72200" y="777240"/>
            <a:ext cx="2834640" cy="4206240"/>
          </a:xfrm>
          <a:prstGeom prst="rect">
            <a:avLst/>
          </a:prstGeom>
          <a:solidFill>
            <a:srgbClr val="12294A"/>
          </a:solidFill>
          <a:ln w="12700">
            <a:solidFill>
              <a:srgbClr val="1E3D6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72200" y="777240"/>
            <a:ext cx="2834640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80467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7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675120" y="822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336792" y="1453896"/>
            <a:ext cx="164592" cy="16459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74536" y="13898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already-issued book → exception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36792" y="2057400"/>
            <a:ext cx="164592" cy="16459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74536" y="19933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Exceed borrow limit (&gt;3) → exception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336792" y="2660904"/>
            <a:ext cx="164592" cy="16459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74536" y="259689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unissued book → exception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336792" y="3264408"/>
            <a:ext cx="164592" cy="16459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74536" y="32004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clean error message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336792" y="3867912"/>
            <a:ext cx="164592" cy="164592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74536" y="380390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continues without crash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A35"/>
          </a:solidFill>
          <a:ln w="12700">
            <a:solidFill>
              <a:srgbClr val="0A1A3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487375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E2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Run: javac -d out src/**/*.java &amp;&amp; java -cp out Main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1584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017"/>
    </mc:Choice>
    <mc:Fallback>
      <p:transition spd="slow" advTm="19017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558</Words>
  <Application>Microsoft Office PowerPoint</Application>
  <PresentationFormat>On-screen Show (16:9)</PresentationFormat>
  <Paragraphs>112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Modular Library Management System</dc:title>
  <dc:subject>PptxGenJS Presentation</dc:subject>
  <dc:creator>PptxGenJS</dc:creator>
  <cp:lastModifiedBy>Adrija Dutta</cp:lastModifiedBy>
  <cp:revision>3</cp:revision>
  <dcterms:created xsi:type="dcterms:W3CDTF">2026-03-29T13:19:34Z</dcterms:created>
  <dcterms:modified xsi:type="dcterms:W3CDTF">2026-03-29T18:26:48Z</dcterms:modified>
</cp:coreProperties>
</file>